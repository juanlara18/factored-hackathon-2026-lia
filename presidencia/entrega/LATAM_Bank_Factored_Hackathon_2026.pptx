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F2A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1F2A"/>
                </a:solidFill>
                <a:latin typeface="Calibri"/>
              </a:rPr>
              <a:t>67,095 complaints by subcategory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Complaints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3D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B6E4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No subcategory</c:v>
                  </c:pt>
                  <c:pt idx="1">
                    <c:v>Service quality</c:v>
                  </c:pt>
                  <c:pt idx="2">
                    <c:v>Branch service</c:v>
                  </c:pt>
                  <c:pt idx="3">
                    <c:v>App problem</c:v>
                  </c:pt>
                  <c:pt idx="4">
                    <c:v>Wrong charge</c:v>
                  </c:pt>
                  <c:pt idx="5">
                    <c:v>Unrecognized charge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6698</c:v>
                </c:pt>
                <c:pt idx="1">
                  <c:v>11886</c:v>
                </c:pt>
                <c:pt idx="2">
                  <c:v>11892</c:v>
                </c:pt>
                <c:pt idx="3">
                  <c:v>12128</c:v>
                </c:pt>
                <c:pt idx="4">
                  <c:v>12194</c:v>
                </c:pt>
                <c:pt idx="5">
                  <c:v>12297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Learned component</c:v>
                </c:pt>
              </c:strCache>
            </c:strRef>
          </c:tx>
          <c:spPr>
            <a:solidFill>
              <a:srgbClr val="0B6E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Policy retrieval (accuracy)</c:v>
                  </c:pt>
                  <c:pt idx="1">
                    <c:v>Contact reason (macro-F1)</c:v>
                  </c:pt>
                  <c:pt idx="2">
                    <c:v>SLA risk (AUC)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0.4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Policy retrieval (accuracy)</c:v>
                  </c:pt>
                  <c:pt idx="1">
                    <c:v>Contact reason (macro-F1)</c:v>
                  </c:pt>
                  <c:pt idx="2">
                    <c:v>SLA risk (AUC)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0.52</c:v>
                </c:pt>
                <c:pt idx="1">
                  <c:v>0.34</c:v>
                </c:pt>
                <c:pt idx="2">
                  <c:v>0.5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0B1F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2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1F2A"/>
                </a:solidFill>
                <a:latin typeface="Calibri"/>
              </a:rPr>
              <a:t>Runs passing every check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agent</c:v>
                </c:pt>
              </c:strCache>
            </c:strRef>
          </c:tx>
          <c:spPr>
            <a:solidFill>
              <a:srgbClr val="0B6E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Dispute flow (30 cases)</c:v>
                  </c:pt>
                  <c:pt idx="1">
                    <c:v>Policy, follow-up, multi-request (13)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baseline</c:v>
                </c:pt>
              </c:strCache>
            </c:strRef>
          </c:tx>
          <c:spPr>
            <a:solidFill>
              <a:srgbClr val="C9D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Dispute flow (30 cases)</c:v>
                  </c:pt>
                  <c:pt idx="1">
                    <c:v>Policy, follow-up, multi-request (13)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87</c:v>
                </c:pt>
                <c:pt idx="1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B1F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0B1F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7" Type="http://schemas.openxmlformats.org/officeDocument/2006/relationships/image" Target="../media/image-5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intake of unrecognized card charges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understands and writes. Code decides.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42" y="4452762"/>
            <a:ext cx="201900" cy="201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4416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 + Portuguese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489204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5001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07008" y="4965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one click away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0080" y="5440680"/>
            <a:ext cx="420624" cy="420624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5550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07008" y="5513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614476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latam-bank-hackaton-2026.web.app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086600" y="685800"/>
            <a:ext cx="4434840" cy="548640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60920" y="914400"/>
            <a:ext cx="502920" cy="50292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1679" y="1045159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001000" y="914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0100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assistant, always disclosed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549640" y="1783080"/>
            <a:ext cx="2697480" cy="566928"/>
          </a:xfrm>
          <a:prstGeom prst="roundRect">
            <a:avLst>
              <a:gd name="adj" fmla="val 22581"/>
            </a:avLst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reconozco este cargo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7360920" y="2560320"/>
            <a:ext cx="3200400" cy="868680"/>
          </a:xfrm>
          <a:prstGeom prst="roundRect">
            <a:avLst>
              <a:gd name="adj" fmla="val 14737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4980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Encontré el cargo: 152.000 COP en Super Norte, el 2 de octubre.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360920" y="3657600"/>
            <a:ext cx="3886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43800" y="37673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reclamo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754380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152.000 COP · tarjeta terminada en 0001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543800" y="452628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543800" y="46451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418320" y="4526280"/>
            <a:ext cx="1645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418320" y="4645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</a:t>
            </a:r>
            <a:endParaRPr lang="en-US" sz="1400" dirty="0"/>
          </a:p>
        </p:txBody>
      </p:sp>
      <p:sp>
        <p:nvSpPr>
          <p:cNvPr id="31" name="Shape 25"/>
          <p:cNvSpPr/>
          <p:nvPr/>
        </p:nvSpPr>
        <p:spPr>
          <a:xfrm>
            <a:off x="7360920" y="54864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0772" y="5586252"/>
            <a:ext cx="184343" cy="18434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863840" y="5559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Hablar con una persona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complaint waits 37 hours for a first answer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417320"/>
          <a:ext cx="6309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178040" y="141732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58191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18.3%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complaints are unrecognized charges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09760" y="141732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738360" y="158191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738360" y="24688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first response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78040" y="365760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382219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709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resolved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509760" y="3657600"/>
            <a:ext cx="2148840" cy="2057400"/>
          </a:xfrm>
          <a:prstGeom prst="roundRect">
            <a:avLst>
              <a:gd name="adj" fmla="val 5333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38360" y="382219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20.4%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4709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the SLA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is contained in minutes, not days. One focused workflow: dispute intake. Source: 686,296 contacts from 148,443 customers.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talks. Policy as code acts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88720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0238" y="167883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web and chat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468880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01568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086" y="1678838"/>
            <a:ext cx="482803" cy="4828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98648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2898648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on-screen approval, output filter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681728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14416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934" y="1678838"/>
            <a:ext cx="482803" cy="482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11496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5111496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+ 8 typed tools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894576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827264" y="1417320"/>
            <a:ext cx="1005840" cy="10058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1678838"/>
            <a:ext cx="482803" cy="482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24344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v1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324344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rules outside the prompt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9107424" y="1783080"/>
            <a:ext cx="457200" cy="274320"/>
          </a:xfrm>
          <a:prstGeom prst="right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040112" y="1417320"/>
            <a:ext cx="1005840" cy="100584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630" y="1678838"/>
            <a:ext cx="482803" cy="482803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37192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537192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gold, Firestore cases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77240" y="4041648"/>
            <a:ext cx="566928" cy="566928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641" y="4189049"/>
            <a:ext cx="272125" cy="27212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50876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pins the charge. Nothing runs until the customer approves on screen.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526280" y="4041648"/>
            <a:ext cx="566928" cy="56692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81" y="4189049"/>
            <a:ext cx="272125" cy="272125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25780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or unsupported</a:t>
            </a:r>
            <a:endParaRPr lang="en-US" sz="1700" dirty="0"/>
          </a:p>
        </p:txBody>
      </p:sp>
      <p:sp>
        <p:nvSpPr>
          <p:cNvPr id="36" name="Text 27"/>
          <p:cNvSpPr txBox="1"/>
          <p:nvPr/>
        </p:nvSpPr>
        <p:spPr>
          <a:xfrm>
            <a:off x="452628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which charge. Policy answers only with a cited source. Abstains on credit.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8275320" y="4041648"/>
            <a:ext cx="566928" cy="566928"/>
          </a:xfrm>
          <a:prstGeom prst="ellipse">
            <a:avLst/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2721" y="4189049"/>
            <a:ext cx="272125" cy="272125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00684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human</a:t>
            </a:r>
            <a:endParaRPr lang="en-US" sz="1700" dirty="0"/>
          </a:p>
        </p:txBody>
      </p:sp>
      <p:sp>
        <p:nvSpPr>
          <p:cNvPr id="41" name="Text 31"/>
          <p:cNvSpPr txBox="1"/>
          <p:nvPr/>
        </p:nvSpPr>
        <p:spPr>
          <a:xfrm>
            <a:off x="827532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19-field handoff package. AI copilot drafts, the expert edits and sends.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43" name="Text 33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tested data pipeline and three models, each against a baseline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642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raw tables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77440" y="2267712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496312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PII pseudonymized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3300984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529584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D9A400"/>
          </a:solidFill>
          <a:ln w="12700">
            <a:solidFill>
              <a:srgbClr val="D9A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307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contracts, no PII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77440" y="4334256"/>
            <a:ext cx="274320" cy="201168"/>
          </a:xfrm>
          <a:prstGeom prst="downArrow">
            <a:avLst/>
          </a:prstGeom>
          <a:solidFill>
            <a:srgbClr val="C9D3D0"/>
          </a:solidFill>
          <a:ln w="12700">
            <a:solidFill>
              <a:srgbClr val="C9D3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562856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5C6F7B"/>
          </a:solidFill>
          <a:ln w="12700">
            <a:solidFill>
              <a:srgbClr val="5C6F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7640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480974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and quality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92" y="5769132"/>
            <a:ext cx="184343" cy="18434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05840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dbt tests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901952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804" y="5769132"/>
            <a:ext cx="184343" cy="18434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59152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255264" y="5669280"/>
            <a:ext cx="384048" cy="384048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116" y="5769132"/>
            <a:ext cx="184343" cy="18434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12464" y="5742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fixture</a:t>
            </a:r>
            <a:endParaRPr lang="en-US" sz="115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937760" y="1371600"/>
          <a:ext cx="67665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8" name="Text 22"/>
          <p:cNvSpPr txBox="1"/>
          <p:nvPr/>
        </p:nvSpPr>
        <p:spPr>
          <a:xfrm>
            <a:off x="5029200" y="53492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workflow: </a:t>
            </a:r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cites the policy rule or says it does not know. 0 false citations on 15 uncovered questions.  </a:t>
            </a:r>
            <a:pPr indent="0" marL="0">
              <a:buNone/>
            </a:pPr>
            <a:r>
              <a:rPr lang="en-US" sz="1350" b="1" dirty="0">
                <a:solidFill>
                  <a:srgbClr val="B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 reported: </a:t>
            </a:r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SLA model has no signal, so it always abstains.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fresh held-out set, the agent beats the rules baseline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129 runs pass every check. 43 new cases, frozen before building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automated resolution on resolvable cases. Rules: 62%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3619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B6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handoffs to a human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52560" y="137160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1F5F4"/>
          </a:solidFill>
          <a:ln w="12700">
            <a:solidFill>
              <a:srgbClr val="F1F5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36192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5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129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4231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unsafe outcome (echoed typed card digits). 3 more flags: fixture artifact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3474720"/>
          <a:ext cx="60350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858000" y="35661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tie on the core flow. The agent wins where rules cannot go. On an older set and version, rules led 91 to 80, with 0 of 96 unsafe.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858000" y="461772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607" y="4722327"/>
            <a:ext cx="193121" cy="193121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360920" y="463600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session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326880" y="461772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1487" y="4722327"/>
            <a:ext cx="193121" cy="19312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829800" y="463600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access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858000" y="516636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607" y="5270967"/>
            <a:ext cx="193121" cy="19312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60920" y="518464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326880" y="516636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1487" y="5270967"/>
            <a:ext cx="193121" cy="19312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29800" y="518464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outage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858000" y="571500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607" y="5819607"/>
            <a:ext cx="193121" cy="193121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360920" y="573328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9326880" y="5715000"/>
            <a:ext cx="402336" cy="402336"/>
          </a:xfrm>
          <a:prstGeom prst="ellipse">
            <a:avLst/>
          </a:prstGeom>
          <a:solidFill>
            <a:srgbClr val="DCEFE7"/>
          </a:solidFill>
          <a:ln w="12700">
            <a:solidFill>
              <a:srgbClr val="DCEFE7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1487" y="5819607"/>
            <a:ext cx="193121" cy="193121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829800" y="573328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languages</a:t>
            </a:r>
            <a:endParaRPr lang="en-US" sz="1250" dirty="0"/>
          </a:p>
        </p:txBody>
      </p:sp>
      <p:sp>
        <p:nvSpPr>
          <p:cNvPr id="35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today, and clear about what is missing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REAL OPERATION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842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 on Google Cloud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317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browser tests pass in production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1965960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21323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98424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offline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23317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data, simulated customer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2953512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119933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29718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without message content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1463040" y="33192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from sources, rules and records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0" y="2953512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3119933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23760" y="29718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not native-reviewed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7223760" y="33192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Brazilian accounts in the data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0080" y="3941064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1" y="4107485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39593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retries, safe fallback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1463040" y="43068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works without the model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00800" y="3941064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7221" y="4107485"/>
            <a:ext cx="307238" cy="30723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23760" y="395935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instance, no load test</a:t>
            </a:r>
            <a:endParaRPr lang="en-US" sz="1700" dirty="0"/>
          </a:p>
        </p:txBody>
      </p:sp>
      <p:sp>
        <p:nvSpPr>
          <p:cNvPr id="28" name="Text 20"/>
          <p:cNvSpPr txBox="1"/>
          <p:nvPr/>
        </p:nvSpPr>
        <p:spPr>
          <a:xfrm>
            <a:off x="7223760" y="430682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still in memory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640080" y="4928616"/>
            <a:ext cx="640080" cy="640080"/>
          </a:xfrm>
          <a:prstGeom prst="ellipse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501" y="5095037"/>
            <a:ext cx="307238" cy="30723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63040" y="494690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and secrets</a:t>
            </a:r>
            <a:endParaRPr lang="en-US" sz="1700" dirty="0"/>
          </a:p>
        </p:txBody>
      </p:sp>
      <p:sp>
        <p:nvSpPr>
          <p:cNvPr id="32" name="Text 23"/>
          <p:cNvSpPr txBox="1"/>
          <p:nvPr/>
        </p:nvSpPr>
        <p:spPr>
          <a:xfrm>
            <a:off x="1463040" y="52943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retention, alerts, Terraform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6400800" y="4928616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7221" y="5095037"/>
            <a:ext cx="307238" cy="30723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23760" y="494690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and WhatsApp</a:t>
            </a:r>
            <a:endParaRPr lang="en-US" sz="1700" dirty="0"/>
          </a:p>
        </p:txBody>
      </p:sp>
      <p:sp>
        <p:nvSpPr>
          <p:cNvPr id="36" name="Text 26"/>
          <p:cNvSpPr txBox="1"/>
          <p:nvPr/>
        </p:nvSpPr>
        <p:spPr>
          <a:xfrm>
            <a:off x="7223760" y="5294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deployed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latam-bank-hackaton-2026.web.app   ·   /banca/ for the customer   ·   /operador/ for the human expert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 ·  Factored AI &amp; Data Hackathon 2026</a:t>
            </a:r>
            <a:endParaRPr lang="en-US" sz="1000" dirty="0"/>
          </a:p>
        </p:txBody>
      </p:sp>
      <p:sp>
        <p:nvSpPr>
          <p:cNvPr id="39" name="Text 29"/>
          <p:cNvSpPr txBox="1"/>
          <p:nvPr/>
        </p:nvSpPr>
        <p:spPr>
          <a:xfrm>
            <a:off x="10698480" y="641908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LATAM Bank: AI-first intake of unrecognized card charges</dc:title>
  <dc:subject>PptxGenJS Presentation</dc:subject>
  <dc:creator>Team Lia</dc:creator>
  <cp:lastModifiedBy>Team Lia</cp:lastModifiedBy>
  <cp:revision>1</cp:revision>
  <dcterms:created xsi:type="dcterms:W3CDTF">2026-10-06T03:27:46Z</dcterms:created>
  <dcterms:modified xsi:type="dcterms:W3CDTF">2026-10-06T03:27:46Z</dcterms:modified>
</cp:coreProperties>
</file>