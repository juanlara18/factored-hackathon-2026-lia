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LATAM Bank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603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Calibri"/>
              </a:rPr>
              <a:t>AI-first intake of unrecognized card charges, in Spanish and Portuguese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>
                <a:solidFill>
                  <a:srgbClr val="9FE0C4"/>
                </a:solidFill>
                <a:latin typeface="Calibri"/>
              </a:rPr>
              <a:t>The model understands and writes. Code decides.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Live: https://latam-bank-hackaton-2026.web.app  (online banking at /banca/, human expert console at /operador/)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B8C2D0"/>
                </a:solidFill>
                <a:latin typeface="Calibri"/>
              </a:rPr>
              <a:t>Factored AI &amp; Data Hackathon 2026. Synthetic data, fictional bank. All figures are offline measurements.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41F33"/>
                </a:solidFill>
                <a:latin typeface="Calibri"/>
              </a:rPr>
              <a:t>1. A problem chosen from the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56070"/>
                </a:solidFill>
                <a:latin typeface="Calibri"/>
              </a:rPr>
              <a:t>LATAM Bank  |  Factored AI &amp; Data Hackathon 2026  |  2/6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686,296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customer contacts from 148,443 customers, flat demand (+0.3%)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18.3%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of 67,095 complaints are unrecognized charges: the largest subcategory (12,297)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10896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37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median first response, while fraud is contained in minutes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10896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11879" y="320040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24.5%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79" y="393192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closed or resolved; 20.4% breach the SLA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5486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One focused workflow: transaction-dispute intake. It wins the prioritization score 4.00 vs 3.00 for account inquiries; the ranking flips only if volume weighs 40% or more, and we say so.</a:t>
            </a:r>
          </a:p>
        </p:txBody>
      </p:sp>
      <p:pic>
        <p:nvPicPr>
          <p:cNvPr id="18" name="Picture 17" descr="07_quej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371600"/>
            <a:ext cx="5394960" cy="1479263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400800" y="5577840"/>
            <a:ext cx="5394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556070"/>
                </a:solidFill>
                <a:latin typeface="Calibri"/>
              </a:rPr>
              <a:t>Data limits found and declared: 57% of amount_usd empty, 24% of digital events without customer, no Brazilian accounts.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41F33"/>
                </a:solidFill>
                <a:latin typeface="Calibri"/>
              </a:rPr>
              <a:t>2. Controlled automation: the LLM talks, policy-as-code 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56070"/>
                </a:solidFill>
                <a:latin typeface="Calibri"/>
              </a:rPr>
              <a:t>LATAM Bank  |  Factored AI &amp; Data Hackathon 2026  |  3/6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103120" cy="1920240"/>
          </a:xfrm>
          <a:prstGeom prst="roundRect">
            <a:avLst/>
          </a:prstGeom>
          <a:solidFill>
            <a:srgbClr val="F4F6F8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Customer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874519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41F33"/>
                </a:solidFill>
                <a:latin typeface="Calibri"/>
              </a:rPr>
              <a:t>Online banking, chat with Lía (always disclosed as AI), ES usted / vos, PT você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80360" y="1371600"/>
            <a:ext cx="2103120" cy="1920240"/>
          </a:xfrm>
          <a:prstGeom prst="roundRect">
            <a:avLst/>
          </a:prstGeom>
          <a:solidFill>
            <a:srgbClr val="F4F6F8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1874519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41F33"/>
                </a:solidFill>
                <a:latin typeface="Calibri"/>
              </a:rPr>
              <a:t>Cloud Run. Session, one-time on-screen approval, output filter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20640" y="1371600"/>
            <a:ext cx="2103120" cy="1920240"/>
          </a:xfrm>
          <a:prstGeom prst="roundRect">
            <a:avLst/>
          </a:prstGeom>
          <a:solidFill>
            <a:srgbClr val="F4F6F8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874519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41F33"/>
                </a:solidFill>
                <a:latin typeface="Calibri"/>
              </a:rPr>
              <a:t>Gemini 3.1 Flash-Lite on Agent Runtime. 8 typed tools, customer comes from the session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60920" y="1371600"/>
            <a:ext cx="2103120" cy="1920240"/>
          </a:xfrm>
          <a:prstGeom prst="roundRect">
            <a:avLst/>
          </a:prstGeom>
          <a:solidFill>
            <a:srgbClr val="F4F6F8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Policy v1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1874519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41F33"/>
                </a:solidFill>
                <a:latin typeface="Calibri"/>
              </a:rPr>
              <a:t>Escalation, provisional credit, auth level per action. Versioned, hashed, outside the prompt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01200" y="1371600"/>
            <a:ext cx="2103120" cy="1920240"/>
          </a:xfrm>
          <a:prstGeom prst="roundRect">
            <a:avLst/>
          </a:prstGeom>
          <a:solidFill>
            <a:srgbClr val="F4F6F8"/>
          </a:solidFill>
          <a:ln>
            <a:solidFill>
              <a:srgbClr val="0B6E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0" y="141732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>
                <a:solidFill>
                  <a:srgbClr val="0B6E4F"/>
                </a:solidFill>
                <a:latin typeface="Calibri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874519"/>
            <a:ext cx="1920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00" b="0">
                <a:solidFill>
                  <a:srgbClr val="141F33"/>
                </a:solidFill>
                <a:latin typeface="Calibri"/>
              </a:rPr>
              <a:t>BigQuery gold views without PII, Firestore cases with 30-day TTL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66160"/>
            <a:ext cx="109728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41F33"/>
                </a:solidFill>
                <a:latin typeface="Calibri"/>
              </a:rPr>
              <a:t>Normal path. The server pins the transaction, the agent reads it and proposes; nothing runs until the customer approves on screen. It reports only verified actions.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1F33"/>
                </a:solidFill>
                <a:latin typeface="Calibri"/>
              </a:rPr>
              <a:t>Ambiguous or unsupported. It lists candidates and asks; it abstains on credit and never invents eligibility. Policy questions are answered only from a retrieved source, with the rule cited, or it says it does not know.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41F33"/>
                </a:solidFill>
                <a:latin typeface="Calibri"/>
              </a:rPr>
              <a:t>Human intervention. A person on request, always. The expert console receives a 19-field handoff package (request, verified facts with source, actions done and not done, open questions, rule and version) and an AI copilot that drafts a reply the human edits and sends.</a:t>
            </a:r>
          </a:p>
          <a:p>
            <a:pPr>
              <a:spcAft>
                <a:spcPts val="800"/>
              </a:spcAft>
            </a:pPr>
            <a:r>
              <a:rPr sz="1500" b="1">
                <a:solidFill>
                  <a:srgbClr val="0B6E4F"/>
                </a:solidFill>
                <a:latin typeface="Calibri"/>
              </a:rPr>
              <a:t>Unauthorized access and prompt injection are stopped in the tool layer, not in prose: other customers' data does not exist for the session.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41F33"/>
                </a:solidFill>
                <a:latin typeface="Calibri"/>
              </a:rPr>
              <a:t>3. Data engineering and ML, each against a baseline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56070"/>
                </a:solidFill>
                <a:latin typeface="Calibri"/>
              </a:rPr>
              <a:t>LATAM Bank  |  Factored AI &amp; Data Hackathon 2026  |  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39496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6E4F"/>
                </a:solidFill>
                <a:latin typeface="Calibri"/>
              </a:rPr>
              <a:t>Data engineering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Bronze, silver, gold and platinum layers in BigQuery with dbt: 13 raw tables, 19M+ rows, 56 tests green.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ODCS contracts on every operational gold table, checked against live columns. Quality rules on bronze, chained SHA-256 manifest for lineage.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PII pseudonymized in silver with a key kept outside the repo; restricted attributes only for fairness audits.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Freshness policy and a labeled update fixture (10 cases: late arrival, redelivery, duplicates, bad currency).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Fraud score excluded from the agent: it leaks the label (2,373 of 2,373 above 30 are fraud).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6E4F"/>
                </a:solidFill>
                <a:latin typeface="Calibri"/>
              </a:rPr>
              <a:t>Three learned components, each against a 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828800"/>
            <a:ext cx="1737360" cy="18288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920240"/>
            <a:ext cx="1463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0.90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651760"/>
            <a:ext cx="1463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Policy retrieval with citation (in the workflow). BM25: 0.52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83879" y="1828800"/>
            <a:ext cx="1737360" cy="18288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1920240"/>
            <a:ext cx="1463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0.40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1040" y="2651760"/>
            <a:ext cx="1463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Contact-reason classifier, macro-F1. Rules: 0.34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0" y="1828800"/>
            <a:ext cx="1737360" cy="182880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1920240"/>
            <a:ext cx="1463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0.50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95560" y="2651760"/>
            <a:ext cx="1463039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SLA-breach risk, AUC. No signal: it always abstains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840480"/>
            <a:ext cx="54864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141F33"/>
                </a:solidFill>
                <a:latin typeface="Calibri"/>
              </a:rPr>
              <a:t>Retrieval: 131 relevance judgments, stratified split, threshold chosen on validation, tested once on 68 questions. 0 citations for the 15 questions the policy does not cover.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41F33"/>
                </a:solidFill>
                <a:latin typeface="Calibri"/>
              </a:rPr>
              <a:t>Classifier: temporal split, leakage removed; it only helps after the call, and we report it as marginal.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41F33"/>
                </a:solidFill>
                <a:latin typeface="Calibri"/>
              </a:rPr>
              <a:t>Risk model: the label itself fails an audit; a permuted label performs the same. We ship the abstention, not a claim.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41F33"/>
                </a:solidFill>
                <a:latin typeface="Calibri"/>
              </a:rPr>
              <a:t>4. Measured quality and failures, on held-out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56070"/>
                </a:solidFill>
                <a:latin typeface="Calibri"/>
              </a:rPr>
              <a:t>LATAM Bank  |  Factored AI &amp; Data Hackathon 2026  |  5/6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0 / 96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unsafe outcomes (upper bound 4%). Zero observed is not zero risk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79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29 / 36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79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safe automated resolution on resolvable cases (29/75 over all in scope)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1.4 s / 4.6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p50 / p95 per agent turn; US$0.002 per attempted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1371600"/>
            <a:ext cx="2651760" cy="1554480"/>
          </a:xfrm>
          <a:prstGeom prst="round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81160" y="1463040"/>
            <a:ext cx="23774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800" b="1">
                <a:solidFill>
                  <a:srgbClr val="0B6E4F"/>
                </a:solidFill>
                <a:latin typeface="Calibri"/>
              </a:rPr>
              <a:t>15 / 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81160" y="2194560"/>
            <a:ext cx="2377440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>
                <a:solidFill>
                  <a:srgbClr val="556070"/>
                </a:solidFill>
                <a:latin typeface="Calibri"/>
              </a:rPr>
              <a:t>injected failures end with no effects and no leaks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32 held-out cases, 3 runs each, Spanish and Portuguese: normal, ambiguous, unsupported, human-required, expired sessions, unauthorized access, direct and tool-borne prompt injection, BigQuery, Firestore and model outages. Deterministic verifiers, validated against 43 manually reviewed runs.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141F33"/>
                </a:solidFill>
                <a:latin typeface="Calibri"/>
              </a:rPr>
              <a:t>The honest headline: on that set the rules baseline passes 91% and the agent 80%, with overlapping intervals. The agent does not beat rules at following policy; it adds language, conversation and coverage that rules do not have.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The evaluation found real defects (a policy not enforced in a tool, an injected priority order obeyed, a list limit hiding charges, silent failures). All four were fixed in the tool layer and re-checked, reported as post hoc.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A new held-out set (43 cases, Mexico, Colombia and Argentina) was frozen by hash before building the latest capabilities, so the current system gets one clean measurement.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556070"/>
                </a:solidFill>
                <a:latin typeface="Calibri"/>
              </a:rPr>
              <a:t>Fairness: outcomes compared by language, country and segment with small-sample flags; no attributable disparity in the historical baseline.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B6E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3000" b="1">
                <a:solidFill>
                  <a:srgbClr val="141F33"/>
                </a:solidFill>
                <a:latin typeface="Calibri"/>
              </a:rPr>
              <a:t>5. A credible route to operation, and what is still missing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 b="0">
                <a:solidFill>
                  <a:srgbClr val="556070"/>
                </a:solidFill>
                <a:latin typeface="Calibri"/>
              </a:rPr>
              <a:t>LATAM Bank  |  Factored AI &amp; Data Hackathon 2026  |  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2801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0B6E4F"/>
                </a:solidFill>
                <a:latin typeface="Calibri"/>
              </a:rPr>
              <a:t>In place and verified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Deployed end to end on Google Cloud: Firebase Hosting, Cloud Run, Agent Runtime, BigQuery, Firestore. 81 browser tests pass against production.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Tracing per turn, model call and tool, with no message content. Explanations rest on sources, rules and execution records, not on model reasoning.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Bounded retries, safe fallback to templates, human handoff that works without the model.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Least-privilege service account, secrets in Secret Manager, 30-day retention with Firestore TTL, uptime check and three alerts, Terraform planned with zero destroys.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588 unit tests, CI with data and credential guards.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5486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 b="1">
                <a:solidFill>
                  <a:srgbClr val="A03A2E"/>
                </a:solidFill>
                <a:latin typeface="Calibri"/>
              </a:rPr>
              <a:t>Honest limits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All results are offline, on synthetic data, against a simulated customer from the same model family, with single-author labels.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No Brazilian accounts in the data: Portuguese is service in that language for regional customers, not reviewed by a native speaker.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One instance, sessions in memory, no load test. Voice and WhatsApp are designed, not deployed.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Banking tools are mocks with documented contracts; no money moves.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41F33"/>
                </a:solidFill>
                <a:latin typeface="Calibri"/>
              </a:rPr>
              <a:t>Before real operation: sessions in Firestore, load and cold-start measurement, individual identity with MFA for experts, a second labeler and a validated tone judge.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