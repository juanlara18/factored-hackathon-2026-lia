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F2A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0B1F2A"/>
                </a:solidFill>
                <a:latin typeface="Calibri"/>
              </a:rPr>
              <a:t>67,095 complaints by subcategory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Complaints</c:v>
                </c:pt>
              </c:strCache>
            </c:strRef>
          </c:tx>
          <c:spPr>
            <a:solidFill>
              <a:srgbClr val="C9D3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F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D3D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D3D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D3D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3D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3D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B6E4F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No subcategory</c:v>
                  </c:pt>
                  <c:pt idx="1">
                    <c:v>Service quality</c:v>
                  </c:pt>
                  <c:pt idx="2">
                    <c:v>Branch service</c:v>
                  </c:pt>
                  <c:pt idx="3">
                    <c:v>App problem</c:v>
                  </c:pt>
                  <c:pt idx="4">
                    <c:v>Wrong charge</c:v>
                  </c:pt>
                  <c:pt idx="5">
                    <c:v>Unrecognized charge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6698</c:v>
                </c:pt>
                <c:pt idx="1">
                  <c:v>11886</c:v>
                </c:pt>
                <c:pt idx="2">
                  <c:v>11892</c:v>
                </c:pt>
                <c:pt idx="3">
                  <c:v>12128</c:v>
                </c:pt>
                <c:pt idx="4">
                  <c:v>12194</c:v>
                </c:pt>
                <c:pt idx="5">
                  <c:v>12297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1F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B1F2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Learned component</c:v>
                </c:pt>
              </c:strCache>
            </c:strRef>
          </c:tx>
          <c:spPr>
            <a:solidFill>
              <a:srgbClr val="0B6E4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F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Policy retrieval (accuracy)</c:v>
                  </c:pt>
                  <c:pt idx="1">
                    <c:v>Contact reason (macro-F1)</c:v>
                  </c:pt>
                  <c:pt idx="2">
                    <c:v>SLA risk (AUC)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</c:v>
                </c:pt>
                <c:pt idx="1">
                  <c:v>0.4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C9D3D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F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Policy retrieval (accuracy)</c:v>
                  </c:pt>
                  <c:pt idx="1">
                    <c:v>Contact reason (macro-F1)</c:v>
                  </c:pt>
                  <c:pt idx="2">
                    <c:v>SLA risk (AUC)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0.52</c:v>
                </c:pt>
                <c:pt idx="1">
                  <c:v>0.34</c:v>
                </c:pt>
                <c:pt idx="2">
                  <c:v>0.5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0B1F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B1F2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0B1F2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F2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0B1F2A"/>
                </a:solidFill>
                <a:latin typeface="Calibri"/>
              </a:rPr>
              <a:t>Runs passing every check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Runs passing every check</c:v>
                </c:pt>
              </c:strCache>
            </c:strRef>
          </c:tx>
          <c:spPr>
            <a:solidFill>
              <a:srgbClr val="C9D3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F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D3D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B6E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Rules baseline</c:v>
                  </c:pt>
                  <c:pt idx="1">
                    <c:v>AI agent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91</c:v>
                </c:pt>
                <c:pt idx="1">
                  <c:v>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0B1F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B1F2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image" Target="../media/image-5-5.png"/><Relationship Id="rId7" Type="http://schemas.openxmlformats.org/officeDocument/2006/relationships/image" Target="../media/image-5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 Bank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317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AI-first intake of unrecognized card charges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204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9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understands and writes. Code decides.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4343400"/>
            <a:ext cx="420624" cy="420624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42" y="4452762"/>
            <a:ext cx="201900" cy="201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07008" y="44165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Spanish + Portuguese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4892040"/>
            <a:ext cx="420624" cy="420624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42" y="5001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07008" y="49651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one click away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40080" y="5440680"/>
            <a:ext cx="420624" cy="420624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442" y="5550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07008" y="55138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Google Cloud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40080" y="614476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latam-bank-hackaton-2026.web.app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7086600" y="685800"/>
            <a:ext cx="4434840" cy="5486400"/>
          </a:xfrm>
          <a:prstGeom prst="roundRect">
            <a:avLst>
              <a:gd name="adj" fmla="val 41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360920" y="914400"/>
            <a:ext cx="502920" cy="50292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1679" y="1045159"/>
            <a:ext cx="241402" cy="24140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001000" y="9144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Lía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001000" y="11887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assistant, always disclosed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549640" y="1783080"/>
            <a:ext cx="2697480" cy="566928"/>
          </a:xfrm>
          <a:prstGeom prst="roundRect">
            <a:avLst>
              <a:gd name="adj" fmla="val 22581"/>
            </a:avLst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686800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reconozco este cargo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7360920" y="2560320"/>
            <a:ext cx="3200400" cy="868680"/>
          </a:xfrm>
          <a:prstGeom prst="roundRect">
            <a:avLst>
              <a:gd name="adj" fmla="val 14737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49808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Encontré el cargo: 152.000 COP en Super Norte, el 2 de octubre.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7360920" y="3657600"/>
            <a:ext cx="38862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7543800" y="37673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reclamo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7543800" y="4069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152.000 COP · tarjeta terminada en 0001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7543800" y="452628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543800" y="46451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</a:t>
            </a:r>
            <a:endParaRPr lang="en-US" sz="1400" dirty="0"/>
          </a:p>
        </p:txBody>
      </p:sp>
      <p:sp>
        <p:nvSpPr>
          <p:cNvPr id="29" name="Shape 23"/>
          <p:cNvSpPr/>
          <p:nvPr/>
        </p:nvSpPr>
        <p:spPr>
          <a:xfrm>
            <a:off x="9418320" y="4526280"/>
            <a:ext cx="16459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9D3D0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9418320" y="46451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Cancelar</a:t>
            </a:r>
            <a:endParaRPr lang="en-US" sz="1400" dirty="0"/>
          </a:p>
        </p:txBody>
      </p:sp>
      <p:sp>
        <p:nvSpPr>
          <p:cNvPr id="31" name="Shape 25"/>
          <p:cNvSpPr/>
          <p:nvPr/>
        </p:nvSpPr>
        <p:spPr>
          <a:xfrm>
            <a:off x="7360920" y="548640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0772" y="5586252"/>
            <a:ext cx="184343" cy="184343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863840" y="55595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Hablar con una persona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complaint waits 37 hours for a first answer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417320"/>
          <a:ext cx="63093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178040" y="1417320"/>
            <a:ext cx="2148840" cy="2057400"/>
          </a:xfrm>
          <a:prstGeom prst="roundRect">
            <a:avLst>
              <a:gd name="adj" fmla="val 5333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06640" y="1581912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18.3%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7406640" y="24688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complaints are unrecognized charges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9509760" y="1417320"/>
            <a:ext cx="2148840" cy="2057400"/>
          </a:xfrm>
          <a:prstGeom prst="roundRect">
            <a:avLst>
              <a:gd name="adj" fmla="val 5333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738360" y="1581912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h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9738360" y="24688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first response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178040" y="3657600"/>
            <a:ext cx="2148840" cy="2057400"/>
          </a:xfrm>
          <a:prstGeom prst="roundRect">
            <a:avLst>
              <a:gd name="adj" fmla="val 5333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06640" y="3822192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24.5%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7406640" y="470916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or resolved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509760" y="3657600"/>
            <a:ext cx="2148840" cy="2057400"/>
          </a:xfrm>
          <a:prstGeom prst="roundRect">
            <a:avLst>
              <a:gd name="adj" fmla="val 5333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738360" y="3822192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B54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20.4%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9738360" y="470916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the SLA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is contained in minutes, not days. One focused workflow: dispute intake. Source: 686,296 contacts from 148,443 customers.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 Bank  ·  Factored AI &amp; Data Hackathon 2026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698480" y="6419088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talks. Policy as code acts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188720" y="1417320"/>
            <a:ext cx="1005840" cy="100584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0238" y="167883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077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web and chat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468880" y="1783080"/>
            <a:ext cx="457200" cy="274320"/>
          </a:xfrm>
          <a:prstGeom prst="rightArrow">
            <a:avLst/>
          </a:prstGeom>
          <a:solidFill>
            <a:srgbClr val="C9D3D0"/>
          </a:solidFill>
          <a:ln w="12700">
            <a:solidFill>
              <a:srgbClr val="C9D3D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01568" y="1417320"/>
            <a:ext cx="1005840" cy="100584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086" y="1678838"/>
            <a:ext cx="482803" cy="48280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98648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2898648" y="29077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Session, on-screen approval, output filter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681728" y="1783080"/>
            <a:ext cx="457200" cy="274320"/>
          </a:xfrm>
          <a:prstGeom prst="rightArrow">
            <a:avLst/>
          </a:prstGeom>
          <a:solidFill>
            <a:srgbClr val="C9D3D0"/>
          </a:solidFill>
          <a:ln w="12700">
            <a:solidFill>
              <a:srgbClr val="C9D3D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14416" y="1417320"/>
            <a:ext cx="1005840" cy="100584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934" y="1678838"/>
            <a:ext cx="482803" cy="48280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11496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5111496" y="29077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+ 8 typed tools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894576" y="1783080"/>
            <a:ext cx="457200" cy="274320"/>
          </a:xfrm>
          <a:prstGeom prst="rightArrow">
            <a:avLst/>
          </a:prstGeom>
          <a:solidFill>
            <a:srgbClr val="C9D3D0"/>
          </a:solidFill>
          <a:ln w="12700">
            <a:solidFill>
              <a:srgbClr val="C9D3D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7827264" y="1417320"/>
            <a:ext cx="1005840" cy="10058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8782" y="1678838"/>
            <a:ext cx="482803" cy="48280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324344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v1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7324344" y="29077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rules outside the prompt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9107424" y="1783080"/>
            <a:ext cx="457200" cy="274320"/>
          </a:xfrm>
          <a:prstGeom prst="rightArrow">
            <a:avLst/>
          </a:prstGeom>
          <a:solidFill>
            <a:srgbClr val="C9D3D0"/>
          </a:solidFill>
          <a:ln w="12700">
            <a:solidFill>
              <a:srgbClr val="C9D3D0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0040112" y="1417320"/>
            <a:ext cx="1005840" cy="100584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1630" y="1678838"/>
            <a:ext cx="482803" cy="482803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537192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537192" y="29077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gold, Firestore cases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77240" y="4041648"/>
            <a:ext cx="566928" cy="566928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641" y="4189049"/>
            <a:ext cx="272125" cy="272125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508760" y="4160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70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48006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pins the charge. Nothing runs until the customer approves on screen.</a:t>
            </a:r>
            <a:endParaRPr lang="en-US" sz="1400" dirty="0"/>
          </a:p>
        </p:txBody>
      </p:sp>
      <p:sp>
        <p:nvSpPr>
          <p:cNvPr id="32" name="Shape 24"/>
          <p:cNvSpPr/>
          <p:nvPr/>
        </p:nvSpPr>
        <p:spPr>
          <a:xfrm>
            <a:off x="4297680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526280" y="4041648"/>
            <a:ext cx="566928" cy="56692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3681" y="4189049"/>
            <a:ext cx="272125" cy="272125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5257800" y="4160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or unsupported</a:t>
            </a:r>
            <a:endParaRPr lang="en-US" sz="1700" dirty="0"/>
          </a:p>
        </p:txBody>
      </p:sp>
      <p:sp>
        <p:nvSpPr>
          <p:cNvPr id="36" name="Text 27"/>
          <p:cNvSpPr txBox="1"/>
          <p:nvPr/>
        </p:nvSpPr>
        <p:spPr>
          <a:xfrm>
            <a:off x="4526280" y="48006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which charge. Policy answers only with a cited source. Abstains on credit.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8046720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8275320" y="4041648"/>
            <a:ext cx="566928" cy="566928"/>
          </a:xfrm>
          <a:prstGeom prst="ellipse">
            <a:avLst/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2721" y="4189049"/>
            <a:ext cx="272125" cy="272125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9006840" y="4160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human</a:t>
            </a:r>
            <a:endParaRPr lang="en-US" sz="1700" dirty="0"/>
          </a:p>
        </p:txBody>
      </p:sp>
      <p:sp>
        <p:nvSpPr>
          <p:cNvPr id="41" name="Text 31"/>
          <p:cNvSpPr txBox="1"/>
          <p:nvPr/>
        </p:nvSpPr>
        <p:spPr>
          <a:xfrm>
            <a:off x="8275320" y="48006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19-field handoff package. AI copilot drafts, the expert edits and sends.</a:t>
            </a:r>
            <a:endParaRPr lang="en-US" sz="1400" dirty="0"/>
          </a:p>
        </p:txBody>
      </p:sp>
      <p:sp>
        <p:nvSpPr>
          <p:cNvPr id="42" name="Text 32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 Bank  ·  Factored AI &amp; Data Hackathon 2026</a:t>
            </a:r>
            <a:endParaRPr lang="en-US" sz="1000" dirty="0"/>
          </a:p>
        </p:txBody>
      </p:sp>
      <p:sp>
        <p:nvSpPr>
          <p:cNvPr id="43" name="Text 33"/>
          <p:cNvSpPr txBox="1"/>
          <p:nvPr/>
        </p:nvSpPr>
        <p:spPr>
          <a:xfrm>
            <a:off x="10698480" y="6419088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tested data pipeline and three models, each against a baseline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642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7099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raw tables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377440" y="2267712"/>
            <a:ext cx="274320" cy="201168"/>
          </a:xfrm>
          <a:prstGeom prst="downArrow">
            <a:avLst/>
          </a:prstGeom>
          <a:solidFill>
            <a:srgbClr val="C9D3D0"/>
          </a:solidFill>
          <a:ln w="12700">
            <a:solidFill>
              <a:srgbClr val="C9D3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496312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8A9BA8"/>
          </a:solidFill>
          <a:ln w="12700">
            <a:solidFill>
              <a:srgbClr val="8A9B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697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2743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PII pseudonymized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77440" y="3300984"/>
            <a:ext cx="274320" cy="201168"/>
          </a:xfrm>
          <a:prstGeom prst="downArrow">
            <a:avLst/>
          </a:prstGeom>
          <a:solidFill>
            <a:srgbClr val="C9D3D0"/>
          </a:solidFill>
          <a:ln w="12700">
            <a:solidFill>
              <a:srgbClr val="C9D3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529584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D9A400"/>
          </a:solidFill>
          <a:ln w="12700">
            <a:solidFill>
              <a:srgbClr val="D9A4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73075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37764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contracts, no PII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377440" y="4334256"/>
            <a:ext cx="274320" cy="201168"/>
          </a:xfrm>
          <a:prstGeom prst="downArrow">
            <a:avLst/>
          </a:prstGeom>
          <a:solidFill>
            <a:srgbClr val="C9D3D0"/>
          </a:solidFill>
          <a:ln w="12700">
            <a:solidFill>
              <a:srgbClr val="C9D3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4562856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5C6F7B"/>
          </a:solidFill>
          <a:ln w="12700">
            <a:solidFill>
              <a:srgbClr val="5C6F7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7640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Platinum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480974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and quality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669280"/>
            <a:ext cx="384048" cy="384048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8492" y="5769132"/>
            <a:ext cx="184343" cy="184343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05840" y="5742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dbt tests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1901952" y="5669280"/>
            <a:ext cx="384048" cy="384048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804" y="5769132"/>
            <a:ext cx="184343" cy="184343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59152" y="5742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255264" y="5669280"/>
            <a:ext cx="384048" cy="384048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5116" y="5769132"/>
            <a:ext cx="184343" cy="184343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3712464" y="5742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fixture</a:t>
            </a:r>
            <a:endParaRPr lang="en-US" sz="115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4937760" y="1371600"/>
          <a:ext cx="67665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8" name="Text 22"/>
          <p:cNvSpPr txBox="1"/>
          <p:nvPr/>
        </p:nvSpPr>
        <p:spPr>
          <a:xfrm>
            <a:off x="5029200" y="534924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workflow: </a:t>
            </a:r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cites the policy rule or says it does not know. 0 false citations on 15 uncovered questions.  </a:t>
            </a:r>
            <a:pPr indent="0" marL="0">
              <a:buNone/>
            </a:pPr>
            <a:r>
              <a:rPr lang="en-US" sz="1350" b="1" dirty="0">
                <a:solidFill>
                  <a:srgbClr val="B54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result reported: </a:t>
            </a:r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SLA model has no signal, so it always abstains.</a:t>
            </a:r>
            <a:endParaRPr lang="en-US" sz="135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 Bank  ·  Factored AI &amp; Data Hackathon 2026</a:t>
            </a:r>
            <a:endParaRPr lang="en-US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10698480" y="6419088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unsafe outcomes in 96 runs, and an honest baseline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96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outcomes. Bounds the risk at 4%, does not prove zero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1536192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automated resolution on resolvable cases (29 of 36)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37160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536192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s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agent turn. p95 4.6 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052560" y="137160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536192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$0.002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24231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cost per attempted case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457200" y="3520440"/>
          <a:ext cx="512064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943600" y="361188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follow policy as well as the agent. The agent adds language, conversation and coverage. Four defects found, fixed in the tool layer.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5943600" y="4709160"/>
            <a:ext cx="457200" cy="457200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4828032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92240" y="47365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Expired session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7863840" y="4709160"/>
            <a:ext cx="457200" cy="457200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712" y="4828032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412480" y="47365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Unauthorized access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9784080" y="4709160"/>
            <a:ext cx="457200" cy="457200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2952" y="482803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332720" y="47365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5943600" y="5458968"/>
            <a:ext cx="457200" cy="457200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2472" y="5577840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492240" y="54864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outage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7863840" y="5458968"/>
            <a:ext cx="457200" cy="457200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2712" y="5577840"/>
            <a:ext cx="219456" cy="21945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412480" y="54864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data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9784080" y="5458968"/>
            <a:ext cx="457200" cy="457200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952" y="5577840"/>
            <a:ext cx="219456" cy="219456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0332720" y="54864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languages</a:t>
            </a:r>
            <a:endParaRPr lang="en-US" sz="1250" dirty="0"/>
          </a:p>
        </p:txBody>
      </p:sp>
      <p:sp>
        <p:nvSpPr>
          <p:cNvPr id="35" name="Text 2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 Bank  ·  Factored AI &amp; Data Hackathon 2026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10698480" y="6419088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today, and clear about what is missing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PLACE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1417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REAL OPERATION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40080" cy="64008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21323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98424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 on Google Cloud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3317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browser tests pass in production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0" y="1965960"/>
            <a:ext cx="640080" cy="64008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221" y="213238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984248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 are offline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233172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data, simulated customer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2953512"/>
            <a:ext cx="640080" cy="64008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1" y="3119933"/>
            <a:ext cx="307238" cy="30723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297180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without message content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1463040" y="331927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Explanations from sources, rules and records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0" y="2953512"/>
            <a:ext cx="640080" cy="64008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7221" y="3119933"/>
            <a:ext cx="307238" cy="30723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23760" y="297180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Portuguese not native-reviewed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7223760" y="331927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Brazilian accounts in the data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40080" y="3941064"/>
            <a:ext cx="640080" cy="64008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01" y="4107485"/>
            <a:ext cx="307238" cy="30723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395935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retries, safe fallback</a:t>
            </a:r>
            <a:endParaRPr lang="en-US" sz="1700" dirty="0"/>
          </a:p>
        </p:txBody>
      </p:sp>
      <p:sp>
        <p:nvSpPr>
          <p:cNvPr id="24" name="Text 17"/>
          <p:cNvSpPr txBox="1"/>
          <p:nvPr/>
        </p:nvSpPr>
        <p:spPr>
          <a:xfrm>
            <a:off x="1463040" y="43068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works without the model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6400800" y="3941064"/>
            <a:ext cx="640080" cy="64008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7221" y="4107485"/>
            <a:ext cx="307238" cy="30723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223760" y="395935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instance, no load test</a:t>
            </a:r>
            <a:endParaRPr lang="en-US" sz="1700" dirty="0"/>
          </a:p>
        </p:txBody>
      </p:sp>
      <p:sp>
        <p:nvSpPr>
          <p:cNvPr id="28" name="Text 20"/>
          <p:cNvSpPr txBox="1"/>
          <p:nvPr/>
        </p:nvSpPr>
        <p:spPr>
          <a:xfrm>
            <a:off x="7223760" y="430682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still in memory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640080" y="4928616"/>
            <a:ext cx="640080" cy="64008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501" y="5095037"/>
            <a:ext cx="307238" cy="30723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463040" y="494690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and secrets</a:t>
            </a:r>
            <a:endParaRPr lang="en-US" sz="1700" dirty="0"/>
          </a:p>
        </p:txBody>
      </p:sp>
      <p:sp>
        <p:nvSpPr>
          <p:cNvPr id="32" name="Text 23"/>
          <p:cNvSpPr txBox="1"/>
          <p:nvPr/>
        </p:nvSpPr>
        <p:spPr>
          <a:xfrm>
            <a:off x="1463040" y="529437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retention, alerts, Terraform</a:t>
            </a:r>
            <a:endParaRPr lang="en-US" sz="1300" dirty="0"/>
          </a:p>
        </p:txBody>
      </p:sp>
      <p:sp>
        <p:nvSpPr>
          <p:cNvPr id="33" name="Shape 24"/>
          <p:cNvSpPr/>
          <p:nvPr/>
        </p:nvSpPr>
        <p:spPr>
          <a:xfrm>
            <a:off x="6400800" y="4928616"/>
            <a:ext cx="640080" cy="64008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7221" y="5095037"/>
            <a:ext cx="307238" cy="30723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223760" y="494690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and WhatsApp</a:t>
            </a:r>
            <a:endParaRPr lang="en-US" sz="1700" dirty="0"/>
          </a:p>
        </p:txBody>
      </p:sp>
      <p:sp>
        <p:nvSpPr>
          <p:cNvPr id="36" name="Text 26"/>
          <p:cNvSpPr txBox="1"/>
          <p:nvPr/>
        </p:nvSpPr>
        <p:spPr>
          <a:xfrm>
            <a:off x="7223760" y="529437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Designed, not deployed</a:t>
            </a:r>
            <a:endParaRPr lang="en-US" sz="13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latam-bank-hackaton-2026.web.app   ·   /banca/ for the customer   ·   /operador/ for the human expert</a:t>
            </a:r>
            <a:endParaRPr lang="en-US" sz="1300" dirty="0"/>
          </a:p>
        </p:txBody>
      </p:sp>
      <p:sp>
        <p:nvSpPr>
          <p:cNvPr id="38" name="Text 28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 Bank  ·  Factored AI &amp; Data Hackathon 2026</a:t>
            </a:r>
            <a:endParaRPr lang="en-US" sz="1000" dirty="0"/>
          </a:p>
        </p:txBody>
      </p:sp>
      <p:sp>
        <p:nvSpPr>
          <p:cNvPr id="39" name="Text 29"/>
          <p:cNvSpPr txBox="1"/>
          <p:nvPr/>
        </p:nvSpPr>
        <p:spPr>
          <a:xfrm>
            <a:off x="10698480" y="6419088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LATAM Bank: AI-first intake of unrecognized card charges</dc:title>
  <dc:subject>PptxGenJS Presentation</dc:subject>
  <dc:creator>Team Lia</dc:creator>
  <cp:lastModifiedBy>Team Lia</cp:lastModifiedBy>
  <cp:revision>1</cp:revision>
  <dcterms:created xsi:type="dcterms:W3CDTF">2026-10-06T03:05:27Z</dcterms:created>
  <dcterms:modified xsi:type="dcterms:W3CDTF">2026-10-06T03:05:27Z</dcterms:modified>
</cp:coreProperties>
</file>