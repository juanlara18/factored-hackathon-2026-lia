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2A"/>
                </a:solidFill>
                <a:latin typeface="Calibri"/>
              </a:rPr>
              <a:t>Test runs passing every check (%), fresh held-out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LATAM Bank assistant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Dispute flow</c:v>
                  </c:pt>
                  <c:pt idx="1">
                    <c:v>Policy, follow-up, multi-request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engine</c:v>
                </c:pt>
              </c:strCache>
            </c:strRef>
          </c:tx>
          <c:spPr>
            <a:solidFill>
              <a:srgbClr val="C9D3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Dispute flow</c:v>
                  </c:pt>
                  <c:pt idx="1">
                    <c:v>Policy, follow-up, multi-request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87</c:v>
                </c:pt>
                <c:pt idx="1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B1F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0B1F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build a chatbot.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9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bank.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Bank keeps its word to every customer, by design.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420624" cy="420624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4727082"/>
            <a:ext cx="201900" cy="201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7008" y="46908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promises, enforced in code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148072"/>
            <a:ext cx="420624" cy="420624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42" y="5257434"/>
            <a:ext cx="201900" cy="201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07008" y="52212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like a bank: owners, debate, audit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5678424"/>
            <a:ext cx="420624" cy="420624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42" y="5787786"/>
            <a:ext cx="201900" cy="201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57515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today, in Spanish and Portuguese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086600" y="685800"/>
            <a:ext cx="4434840" cy="548640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360920" y="914400"/>
            <a:ext cx="502920" cy="50292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679" y="104515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Lía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1188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assistant, always disclosed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549640" y="1783080"/>
            <a:ext cx="2697480" cy="566928"/>
          </a:xfrm>
          <a:prstGeom prst="roundRect">
            <a:avLst>
              <a:gd name="adj" fmla="val 22581"/>
            </a:avLst>
          </a:prstGeom>
          <a:solidFill>
            <a:srgbClr val="DCEFE7"/>
          </a:solidFill>
          <a:ln w="12700">
            <a:solidFill>
              <a:srgbClr val="DCEFE7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68680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reconozco este cargo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360920" y="2560320"/>
            <a:ext cx="3200400" cy="868680"/>
          </a:xfrm>
          <a:prstGeom prst="roundRect">
            <a:avLst>
              <a:gd name="adj" fmla="val 14737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498080" y="2651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Encontré el cargo: 152.000 COP en Super Norte, el 2 de octubre.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360920" y="3657600"/>
            <a:ext cx="3886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543800" y="3767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reclamo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54380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152.000 COP · tarjeta terminada en 0001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543800" y="45262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43800" y="4645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9418320" y="45262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9D3D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9418320" y="4645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7360920" y="548640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0772" y="5586252"/>
            <a:ext cx="184343" cy="18434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863840" y="5559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con una persona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banks break every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937760" cy="3017520"/>
          </a:xfrm>
          <a:prstGeom prst="roundRect">
            <a:avLst>
              <a:gd name="adj" fmla="val 4242"/>
            </a:avLst>
          </a:prstGeom>
          <a:solidFill>
            <a:srgbClr val="F8ECEA"/>
          </a:solidFill>
          <a:ln w="12700">
            <a:solidFill>
              <a:srgbClr val="F8E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5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hours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first answer after a customer reports a charge they never made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0" y="2606040"/>
            <a:ext cx="822960" cy="548640"/>
          </a:xfrm>
          <a:prstGeom prst="rightArrow">
            <a:avLst/>
          </a:prstGeom>
          <a:solidFill>
            <a:srgbClr val="C9D3D0"/>
          </a:solidFill>
          <a:ln w="12700">
            <a:solidFill>
              <a:srgbClr val="C9D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371600"/>
            <a:ext cx="4937760" cy="3017520"/>
          </a:xfrm>
          <a:prstGeom prst="roundRect">
            <a:avLst>
              <a:gd name="adj" fmla="val 4242"/>
            </a:avLst>
          </a:prstGeom>
          <a:solidFill>
            <a:srgbClr val="DCEFE7"/>
          </a:solidFill>
          <a:ln w="12700">
            <a:solidFill>
              <a:srgbClr val="DCEF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9516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LATAM BANK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9202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80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3291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Lía finds the charge and proposes the claim. 95% of answers in under 5 seconds, measured offline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complaint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577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Unrecognized charges: 12,297 of 67,095 complaints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15968" y="46177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4568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 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5577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complaints are still open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83296" y="4617720"/>
            <a:ext cx="3529584" cy="1554480"/>
          </a:xfrm>
          <a:prstGeom prst="roundRect">
            <a:avLst>
              <a:gd name="adj" fmla="val 7059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11896" y="475488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557784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how fast fraud moves. Trust is lost in hours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Bank  ·  Factored AI &amp; Data Hackathon 2026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698480" y="64190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like a bank: owners, debate, a record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46120" y="1325880"/>
            <a:ext cx="914400" cy="914400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3864" y="156362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603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703320" y="2651760"/>
            <a:ext cx="0" cy="320040"/>
          </a:xfrm>
          <a:prstGeom prst="line">
            <a:avLst/>
          </a:prstGeom>
          <a:noFill/>
          <a:ln w="19050">
            <a:solidFill>
              <a:srgbClr val="C9D3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2971800"/>
            <a:ext cx="5212080" cy="0"/>
          </a:xfrm>
          <a:prstGeom prst="line">
            <a:avLst/>
          </a:prstGeom>
          <a:noFill/>
          <a:ln w="19050">
            <a:solidFill>
              <a:srgbClr val="C9D3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0" y="2971800"/>
            <a:ext cx="0" cy="228600"/>
          </a:xfrm>
          <a:prstGeom prst="line">
            <a:avLst/>
          </a:prstGeom>
          <a:noFill/>
          <a:ln w="19050">
            <a:solidFill>
              <a:srgbClr val="C9D3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200400"/>
            <a:ext cx="822960" cy="82296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41437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2400300" y="2971800"/>
            <a:ext cx="0" cy="228600"/>
          </a:xfrm>
          <a:prstGeom prst="line">
            <a:avLst/>
          </a:prstGeom>
          <a:noFill/>
          <a:ln w="19050">
            <a:solidFill>
              <a:srgbClr val="C9D3D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988820" y="3200400"/>
            <a:ext cx="822960" cy="82296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790" y="341437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1450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3703320" y="2971800"/>
            <a:ext cx="0" cy="228600"/>
          </a:xfrm>
          <a:prstGeom prst="line">
            <a:avLst/>
          </a:prstGeom>
          <a:noFill/>
          <a:ln w="19050">
            <a:solidFill>
              <a:srgbClr val="C9D3D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291840" y="3200400"/>
            <a:ext cx="822960" cy="82296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810" y="341437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01752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006340" y="2971800"/>
            <a:ext cx="0" cy="228600"/>
          </a:xfrm>
          <a:prstGeom prst="line">
            <a:avLst/>
          </a:prstGeom>
          <a:noFill/>
          <a:ln w="19050">
            <a:solidFill>
              <a:srgbClr val="C9D3D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94860" y="3200400"/>
            <a:ext cx="822960" cy="82296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830" y="3414370"/>
            <a:ext cx="395021" cy="39502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32054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309360" y="2971800"/>
            <a:ext cx="0" cy="228600"/>
          </a:xfrm>
          <a:prstGeom prst="line">
            <a:avLst/>
          </a:prstGeom>
          <a:noFill/>
          <a:ln w="19050">
            <a:solidFill>
              <a:srgbClr val="C9D3D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897880" y="3200400"/>
            <a:ext cx="822960" cy="82296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1850" y="3414370"/>
            <a:ext cx="395021" cy="3950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62356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5440680" y="1371600"/>
            <a:ext cx="822960" cy="8229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4650" y="1585570"/>
            <a:ext cx="395021" cy="395021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89204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Audit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4206240" y="1783080"/>
            <a:ext cx="118872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dash"/>
          </a:ln>
        </p:spPr>
      </p:sp>
      <p:sp>
        <p:nvSpPr>
          <p:cNvPr id="32" name="Shape 23"/>
          <p:cNvSpPr/>
          <p:nvPr/>
        </p:nvSpPr>
        <p:spPr>
          <a:xfrm>
            <a:off x="548640" y="4754880"/>
            <a:ext cx="6309360" cy="1371600"/>
          </a:xfrm>
          <a:prstGeom prst="roundRect">
            <a:avLst>
              <a:gd name="adj" fmla="val 8000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777240" y="493776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challenged the design. Audit reviewed it cold. Every vice presidency owns its folder, its rules and its tests.</a:t>
            </a:r>
            <a:endParaRPr lang="en-US" sz="1500" dirty="0"/>
          </a:p>
        </p:txBody>
      </p:sp>
      <p:sp>
        <p:nvSpPr>
          <p:cNvPr id="34" name="Shape 25"/>
          <p:cNvSpPr/>
          <p:nvPr/>
        </p:nvSpPr>
        <p:spPr>
          <a:xfrm>
            <a:off x="7315200" y="132588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7543800" y="1463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000" dirty="0"/>
          </a:p>
        </p:txBody>
      </p:sp>
      <p:sp>
        <p:nvSpPr>
          <p:cNvPr id="36" name="Text 27"/>
          <p:cNvSpPr txBox="1"/>
          <p:nvPr/>
        </p:nvSpPr>
        <p:spPr>
          <a:xfrm>
            <a:off x="754380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studies before writing code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9555480" y="132588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9784080" y="1463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4000" dirty="0"/>
          </a:p>
        </p:txBody>
      </p:sp>
      <p:sp>
        <p:nvSpPr>
          <p:cNvPr id="39" name="Text 30"/>
          <p:cNvSpPr txBox="1"/>
          <p:nvPr/>
        </p:nvSpPr>
        <p:spPr>
          <a:xfrm>
            <a:off x="978408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each with its reason</a:t>
            </a:r>
            <a:endParaRPr lang="en-US" sz="1350" dirty="0"/>
          </a:p>
        </p:txBody>
      </p:sp>
      <p:sp>
        <p:nvSpPr>
          <p:cNvPr id="40" name="Shape 31"/>
          <p:cNvSpPr/>
          <p:nvPr/>
        </p:nvSpPr>
        <p:spPr>
          <a:xfrm>
            <a:off x="7315200" y="301752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7543800" y="31546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42" name="Text 33"/>
          <p:cNvSpPr txBox="1"/>
          <p:nvPr/>
        </p:nvSpPr>
        <p:spPr>
          <a:xfrm>
            <a:off x="7543800" y="3977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</a:t>
            </a:r>
            <a:endParaRPr lang="en-US" sz="1350" dirty="0"/>
          </a:p>
        </p:txBody>
      </p:sp>
      <p:sp>
        <p:nvSpPr>
          <p:cNvPr id="43" name="Shape 34"/>
          <p:cNvSpPr/>
          <p:nvPr/>
        </p:nvSpPr>
        <p:spPr>
          <a:xfrm>
            <a:off x="9555480" y="301752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9784080" y="31546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4000" dirty="0"/>
          </a:p>
        </p:txBody>
      </p:sp>
      <p:sp>
        <p:nvSpPr>
          <p:cNvPr id="45" name="Text 36"/>
          <p:cNvSpPr txBox="1"/>
          <p:nvPr/>
        </p:nvSpPr>
        <p:spPr>
          <a:xfrm>
            <a:off x="9784080" y="3977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tracked by Audit</a:t>
            </a:r>
            <a:endParaRPr lang="en-US" sz="1350" dirty="0"/>
          </a:p>
        </p:txBody>
      </p:sp>
      <p:sp>
        <p:nvSpPr>
          <p:cNvPr id="46" name="Shape 37"/>
          <p:cNvSpPr/>
          <p:nvPr/>
        </p:nvSpPr>
        <p:spPr>
          <a:xfrm>
            <a:off x="7315200" y="4754880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7543800" y="4983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disagreements are in the repository, not hidden behind the demo.</a:t>
            </a:r>
            <a:endParaRPr lang="en-US" sz="1500" dirty="0"/>
          </a:p>
        </p:txBody>
      </p:sp>
      <p:sp>
        <p:nvSpPr>
          <p:cNvPr id="48" name="Text 3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Bank  ·  Factored AI &amp; Data Hackathon 2026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98480" y="64190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promises a bank can actually keep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084832" cy="3429000"/>
          </a:xfrm>
          <a:prstGeom prst="roundRect">
            <a:avLst>
              <a:gd name="adj" fmla="val 6140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1645920"/>
            <a:ext cx="914400" cy="91440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836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78892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without your yes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61188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waits for your approval on screen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98064" y="1371600"/>
            <a:ext cx="2084832" cy="3429000"/>
          </a:xfrm>
          <a:prstGeom prst="roundRect">
            <a:avLst>
              <a:gd name="adj" fmla="val 6140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645920"/>
            <a:ext cx="914400" cy="91440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8836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35224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62656" y="278892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data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962656" y="361188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customers do not exist for your session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47488" y="1371600"/>
            <a:ext cx="2084832" cy="3429000"/>
          </a:xfrm>
          <a:prstGeom prst="roundRect">
            <a:avLst>
              <a:gd name="adj" fmla="val 6140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32704" y="1645920"/>
            <a:ext cx="914400" cy="91440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88366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84648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278892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person, whenever you ask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361188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whole story. You never repeat it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296912" y="1371600"/>
            <a:ext cx="2084832" cy="3429000"/>
          </a:xfrm>
          <a:prstGeom prst="roundRect">
            <a:avLst>
              <a:gd name="adj" fmla="val 6140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882128" y="1645920"/>
            <a:ext cx="914400" cy="91440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88366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34072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461504" y="278892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a source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461504" y="361188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cited by rule, or an honest “I don't know”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546336" y="1371600"/>
            <a:ext cx="2084832" cy="3429000"/>
          </a:xfrm>
          <a:prstGeom prst="roundRect">
            <a:avLst>
              <a:gd name="adj" fmla="val 6140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131552" y="1645920"/>
            <a:ext cx="914400" cy="91440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1883664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83496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710928" y="278892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was verified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9710928" y="361188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what the system actually did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48640" y="5074920"/>
            <a:ext cx="11082528" cy="1051560"/>
          </a:xfrm>
          <a:prstGeom prst="roundRect">
            <a:avLst>
              <a:gd name="adj" fmla="val 10435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22960" y="5321808"/>
            <a:ext cx="566928" cy="566928"/>
          </a:xfrm>
          <a:prstGeom prst="ellipse">
            <a:avLst/>
          </a:prstGeom>
          <a:solidFill>
            <a:srgbClr val="9FE0C4"/>
          </a:solidFill>
          <a:ln w="12700">
            <a:solidFill>
              <a:srgbClr val="9FE0C4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361" y="5469209"/>
            <a:ext cx="272125" cy="27212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600200" y="542239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code and versioned policy, not in a prompt. A prompt injection cannot break them.</a:t>
            </a:r>
            <a:endParaRPr lang="en-US" sz="190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Bank  ·  Factored AI &amp; Data Hackathon 2026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0698480" y="64190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the model talks, policy as code acts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DCEFE7"/>
          </a:solidFill>
          <a:ln w="12700">
            <a:solidFill>
              <a:srgbClr val="DCEF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banking and chat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4650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Hosting. Lía, always disclosed as AI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60520" y="132588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DCEFE7"/>
          </a:solidFill>
          <a:ln w="12700">
            <a:solidFill>
              <a:srgbClr val="DCEF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43400" y="14356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console + AI copilot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4650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19-field handoff, drafted reply, human sends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03120" y="2221992"/>
            <a:ext cx="274320" cy="219456"/>
          </a:xfrm>
          <a:prstGeom prst="downArrow">
            <a:avLst/>
          </a:prstGeom>
          <a:solidFill>
            <a:srgbClr val="C9D3D0"/>
          </a:solidFill>
          <a:ln w="12700">
            <a:solidFill>
              <a:srgbClr val="C9D3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2221992"/>
            <a:ext cx="274320" cy="219456"/>
          </a:xfrm>
          <a:prstGeom prst="downArrow">
            <a:avLst/>
          </a:prstGeom>
          <a:solidFill>
            <a:srgbClr val="C9D3D0"/>
          </a:solidFill>
          <a:ln w="12700">
            <a:solidFill>
              <a:srgbClr val="C9D3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7040880" cy="868680"/>
          </a:xfrm>
          <a:prstGeom prst="roundRect">
            <a:avLst>
              <a:gd name="adj" fmla="val 10526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5786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service on Cloud Run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889504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session, one-time on-screen approval, output filter, bounded retries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31920" y="3364992"/>
            <a:ext cx="274320" cy="219456"/>
          </a:xfrm>
          <a:prstGeom prst="downArrow">
            <a:avLst/>
          </a:prstGeom>
          <a:solidFill>
            <a:srgbClr val="C9D3D0"/>
          </a:solidFill>
          <a:ln w="12700">
            <a:solidFill>
              <a:srgbClr val="C9D3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1188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216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 Agent Runtime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03250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Flash-Lite, 8 typed tools. The customer comes from the session, never from the model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60520" y="361188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43400" y="37216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v1 as code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403250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Escalation, auth level per action, provisional credit. Versioned and hashed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103120" y="4690872"/>
            <a:ext cx="274320" cy="219456"/>
          </a:xfrm>
          <a:prstGeom prst="downArrow">
            <a:avLst/>
          </a:prstGeom>
          <a:solidFill>
            <a:srgbClr val="C9D3D0"/>
          </a:solidFill>
          <a:ln w="12700">
            <a:solidFill>
              <a:srgbClr val="C9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4690872"/>
            <a:ext cx="274320" cy="219456"/>
          </a:xfrm>
          <a:prstGeom prst="downArrow">
            <a:avLst/>
          </a:prstGeom>
          <a:solidFill>
            <a:srgbClr val="C9D3D0"/>
          </a:solidFill>
          <a:ln w="12700">
            <a:solidFill>
              <a:srgbClr val="C9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937760"/>
            <a:ext cx="4343400" cy="1234440"/>
          </a:xfrm>
          <a:prstGeom prst="roundRect">
            <a:avLst>
              <a:gd name="adj" fmla="val 7407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0474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BigQuery: bronze, silver, gold, platinum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35838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19M rows, dbt with 56 tests, data contracts, hashed lineage, PII pseudonymized, freshness fixture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493776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57800" y="5047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535838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5E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and handoffs, 30-day retention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EACH VS A BASELINE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01000" y="1691640"/>
            <a:ext cx="502920" cy="50292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1759" y="1822399"/>
            <a:ext cx="241402" cy="241402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864108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retrieval with citation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 vs 0.52 (BM25). In the workflow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001000" y="2441448"/>
            <a:ext cx="502920" cy="50292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759" y="2572207"/>
            <a:ext cx="241402" cy="24140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8641080" y="2441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Contact-reason classifier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8641080" y="2715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0.40 vs 0.34 (rules)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8001000" y="3191256"/>
            <a:ext cx="502920" cy="50292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759" y="3322015"/>
            <a:ext cx="241402" cy="241402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8641080" y="3191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SLA-breach risk</a:t>
            </a:r>
            <a:endParaRPr lang="en-US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8641080" y="3465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(AUC 0.50). Reported, abstains</a:t>
            </a:r>
            <a:endParaRPr lang="en-US" sz="1150" dirty="0"/>
          </a:p>
        </p:txBody>
      </p:sp>
      <p:sp>
        <p:nvSpPr>
          <p:cNvPr id="42" name="Text 37"/>
          <p:cNvSpPr txBox="1"/>
          <p:nvPr/>
        </p:nvSpPr>
        <p:spPr>
          <a:xfrm>
            <a:off x="80010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8001000" y="4434840"/>
            <a:ext cx="365760" cy="365760"/>
          </a:xfrm>
          <a:prstGeom prst="ellipse">
            <a:avLst/>
          </a:prstGeom>
          <a:solidFill>
            <a:srgbClr val="DCEFE7"/>
          </a:solidFill>
          <a:ln w="12700">
            <a:solidFill>
              <a:srgbClr val="DCEFE7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098" y="4529938"/>
            <a:ext cx="175565" cy="175565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8503920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without message content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8001000" y="4892040"/>
            <a:ext cx="365760" cy="365760"/>
          </a:xfrm>
          <a:prstGeom prst="ellipse">
            <a:avLst/>
          </a:prstGeom>
          <a:solidFill>
            <a:srgbClr val="DCEFE7"/>
          </a:solidFill>
          <a:ln w="12700">
            <a:solidFill>
              <a:srgbClr val="DCEFE7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098" y="4987138"/>
            <a:ext cx="175565" cy="175565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8503920" y="4946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Secret Manager</a:t>
            </a:r>
            <a:endParaRPr lang="en-US" sz="1300" dirty="0"/>
          </a:p>
        </p:txBody>
      </p:sp>
      <p:sp>
        <p:nvSpPr>
          <p:cNvPr id="49" name="Shape 42"/>
          <p:cNvSpPr/>
          <p:nvPr/>
        </p:nvSpPr>
        <p:spPr>
          <a:xfrm>
            <a:off x="8001000" y="5349240"/>
            <a:ext cx="365760" cy="365760"/>
          </a:xfrm>
          <a:prstGeom prst="ellipse">
            <a:avLst/>
          </a:prstGeom>
          <a:solidFill>
            <a:srgbClr val="DCEFE7"/>
          </a:solidFill>
          <a:ln w="12700">
            <a:solidFill>
              <a:srgbClr val="DCEFE7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098" y="5444338"/>
            <a:ext cx="175565" cy="17556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8503920" y="5404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check and alerts, Terraform</a:t>
            </a:r>
            <a:endParaRPr lang="en-US" sz="1300" dirty="0"/>
          </a:p>
        </p:txBody>
      </p:sp>
      <p:sp>
        <p:nvSpPr>
          <p:cNvPr id="52" name="Shape 44"/>
          <p:cNvSpPr/>
          <p:nvPr/>
        </p:nvSpPr>
        <p:spPr>
          <a:xfrm>
            <a:off x="8001000" y="5806440"/>
            <a:ext cx="365760" cy="365760"/>
          </a:xfrm>
          <a:prstGeom prst="ellipse">
            <a:avLst/>
          </a:prstGeom>
          <a:solidFill>
            <a:srgbClr val="DCEFE7"/>
          </a:solidFill>
          <a:ln w="12700">
            <a:solidFill>
              <a:srgbClr val="DCEFE7"/>
            </a:solidFill>
            <a:prstDash val="solid"/>
          </a:ln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098" y="5901538"/>
            <a:ext cx="175565" cy="175565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503920" y="5861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588 unit + 81 browser tests in CI</a:t>
            </a:r>
            <a:endParaRPr lang="en-US" sz="1300" dirty="0"/>
          </a:p>
        </p:txBody>
      </p:sp>
      <p:sp>
        <p:nvSpPr>
          <p:cNvPr id="55" name="Text 4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Bank  ·  Factored AI &amp; Data Hackathon 2026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10698480" y="64190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to break it. Then we published the results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25880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766560" y="132588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9516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995160" y="2286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129 runs pass. Rules engine: 72%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9281160" y="132588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509760" y="2286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without approval, in 225 runs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66560" y="324612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3383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18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4206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handoffs to a person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281160" y="324612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09760" y="3383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5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0" y="4206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flaw in 129 runs. Found and published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82528" cy="1051560"/>
          </a:xfrm>
          <a:prstGeom prst="roundRect">
            <a:avLst>
              <a:gd name="adj" fmla="val 10435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5422392"/>
            <a:ext cx="530352" cy="530352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2" y="5560284"/>
            <a:ext cx="254569" cy="25456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81328" y="5532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37 hours to seconds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480560" y="5422392"/>
            <a:ext cx="530352" cy="530352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452" y="5560284"/>
            <a:ext cx="254569" cy="25456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138928" y="5532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Experts: the full picture, drafted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8138160" y="5422392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052" y="5560284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796528" y="5532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bank: auditable policy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Bank  ·  Live today: latam-bank-hackaton-2026.web.app  ·  Offline measurements on synthetic data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0698480" y="64190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LATAM Bank: the bank that keeps its word</dc:title>
  <dc:subject>PptxGenJS Presentation</dc:subject>
  <dc:creator>Team Lia</dc:creator>
  <cp:lastModifiedBy>Team Lia</cp:lastModifiedBy>
  <cp:revision>1</cp:revision>
  <dcterms:created xsi:type="dcterms:W3CDTF">2026-10-06T03:41:49Z</dcterms:created>
  <dcterms:modified xsi:type="dcterms:W3CDTF">2026-10-06T03:41:49Z</dcterms:modified>
</cp:coreProperties>
</file>